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71e5d1a08104549" /><Relationship Type="http://schemas.openxmlformats.org/officeDocument/2006/relationships/extended-properties" Target="/docProps/app.xml" Id="R3f3a7131c2e04232" /><Relationship Type="http://schemas.openxmlformats.org/officeDocument/2006/relationships/officeDocument" Target="/ppt/presentation.xml" Id="R79adb5a23138491f" /></Relationships>
</file>

<file path=ppt/presentation.xml><?xml version="1.0" encoding="utf-8"?>
<p:presentation xmlns:p="http://schemas.openxmlformats.org/presentationml/2006/main">
  <p:sldMasterIdLst>
    <p:sldMasterId xmlns:r="http://schemas.openxmlformats.org/officeDocument/2006/relationships" id="2147483648" r:id="R394b4d8548c74086"/>
  </p:sldMasterIdLst>
  <p:notesMasterIdLst>
    <p:notesMasterId xmlns:r="http://schemas.openxmlformats.org/officeDocument/2006/relationships" r:id="Re1a05a833eb4405c"/>
  </p:notesMasterIdLst>
  <p:sldIdLst>
    <p:sldId xmlns:r="http://schemas.openxmlformats.org/officeDocument/2006/relationships" id="256" r:id="Rbbf5a586af594175"/>
    <p:sldId xmlns:r="http://schemas.openxmlformats.org/officeDocument/2006/relationships" id="257" r:id="R9ec4b7e1c58a4a25"/>
    <p:sldId xmlns:r="http://schemas.openxmlformats.org/officeDocument/2006/relationships" id="258" r:id="Racaf39819fc24f6b"/>
    <p:sldId xmlns:r="http://schemas.openxmlformats.org/officeDocument/2006/relationships" id="259" r:id="R9deabf49521f4438"/>
    <p:sldId xmlns:r="http://schemas.openxmlformats.org/officeDocument/2006/relationships" id="260" r:id="Rf0e3df77e1d040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b9fd55028141d3" /><Relationship Type="http://schemas.openxmlformats.org/officeDocument/2006/relationships/slideMaster" Target="/ppt/slideMasters/slideMaster1.xml" Id="R394b4d8548c74086" /><Relationship Type="http://schemas.openxmlformats.org/officeDocument/2006/relationships/notesMaster" Target="/ppt/notesMasters/notesMaster1.xml" Id="Re1a05a833eb4405c" /><Relationship Type="http://schemas.openxmlformats.org/officeDocument/2006/relationships/presProps" Target="/ppt/presProps.xml" Id="R73dddb7fc9354479" /><Relationship Type="http://schemas.openxmlformats.org/officeDocument/2006/relationships/tableStyles" Target="/ppt/tableStyles.xml" Id="Rbd88c70479d947ea" /><Relationship Type="http://schemas.openxmlformats.org/officeDocument/2006/relationships/slide" Target="/ppt/slides/slide1.xml" Id="Rbbf5a586af594175" /><Relationship Type="http://schemas.openxmlformats.org/officeDocument/2006/relationships/slide" Target="/ppt/slides/slide2.xml" Id="R9ec4b7e1c58a4a25" /><Relationship Type="http://schemas.openxmlformats.org/officeDocument/2006/relationships/slide" Target="/ppt/slides/slide3.xml" Id="Racaf39819fc24f6b" /><Relationship Type="http://schemas.openxmlformats.org/officeDocument/2006/relationships/slide" Target="/ppt/slides/slide4.xml" Id="R9deabf49521f4438" /><Relationship Type="http://schemas.openxmlformats.org/officeDocument/2006/relationships/slide" Target="/ppt/slides/slide5.xml" Id="Rf0e3df77e1d040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4dda05628c43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9a21cb12eb4874" /><Relationship Type="http://schemas.openxmlformats.org/officeDocument/2006/relationships/notesMaster" Target="/ppt/notesMasters/notesMaster1.xml" Id="Rc0b003324d6d48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26cd932ee84efa" /><Relationship Type="http://schemas.openxmlformats.org/officeDocument/2006/relationships/notesMaster" Target="/ppt/notesMasters/notesMaster1.xml" Id="R3c48f7ff28674f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333ec637554b80" /><Relationship Type="http://schemas.openxmlformats.org/officeDocument/2006/relationships/notesMaster" Target="/ppt/notesMasters/notesMaster1.xml" Id="Rb9d4d2f78fda42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750087c2e4493e" /><Relationship Type="http://schemas.openxmlformats.org/officeDocument/2006/relationships/notesMaster" Target="/ppt/notesMasters/notesMaster1.xml" Id="R9e8f0656c78d49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0386bab0bb4094" /><Relationship Type="http://schemas.openxmlformats.org/officeDocument/2006/relationships/notesMaster" Target="/ppt/notesMasters/notesMaster1.xml" Id="Rff4285aabb294c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built this practice report using 1,000 fictional shipments from 2025. The goal was to give a logistics manager a monthly view of shipping costs and delivery reliability, with filters for carrier and date. Each row represents one completed shipment.</a:t>
            </a:r>
          </a:p>
          <a:p xmlns:a="http://schemas.openxmlformats.org/drawingml/2006/main">
            <a:r>
              <a:t>Source: project data and SQL/Power BI results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used MySQL to query the source and establish independent totals. In Power Query, I set data types, trimmed text, and checked column quality. I created reusable DAX measures and then used carrier and date filters in the report. This exercise used a local imported CSV. It did not use a published semantic model or demonstrate production access controls.</a:t>
            </a:r>
          </a:p>
          <a:p xmlns:a="http://schemas.openxmlformats.org/drawingml/2006/main">
            <a:r>
              <a:t>Source: project data and SQL/Power BI results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compared overall totals, carrier breakdowns and monthly results using the same filters. All five measures matched. For the rate, I divided 917 on-time shipments by 1,000 total shipments. I did not average the individual carrier percentages. I also tested January separately and confirmed 65 shipments and $94,771.18.</a:t>
            </a:r>
          </a:p>
          <a:p xmlns:a="http://schemas.openxmlformats.org/drawingml/2006/main">
            <a:r>
              <a:t>Source: project data and SQL/Power BI results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Carrier C had the highest on-time rate at 97.83%. Carrier D had the lowest at 87.65%, and its average shipment cost was also the highest at $1,613.87. I would investigate distance and transport mode before concluding that a carrier is inefficient. December had the highest total freight cost at $146,533.19. November and December tied at 95 shipments each.</a:t>
            </a:r>
          </a:p>
          <a:p xmlns:a="http://schemas.openxmlformats.org/drawingml/2006/main">
            <a:r>
              <a:t>Source: project data and SQL/Power BI results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I selected January, the cards initially showed nine shipments and around $11.58K. MySQL showed 65 shipments and $94,771.18. I checked the date range and remaining report selections, cleared the active filter, and compared again. The totals then matched. This demonstrated why filter context must be checked before changing the DAX. The report demonstrates reporting and reconciliation skills. In a role with a published semantic model, I would use approved measures and raise measure gaps with the Analytics Engineer.</a:t>
            </a:r>
          </a:p>
          <a:p xmlns:a="http://schemas.openxmlformats.org/drawingml/2006/main">
            <a:r>
              <a:t>Source: project data and SQL/Power BI results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daf4c13ddb40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5b63e9a20f4aa0" /><Relationship Type="http://schemas.openxmlformats.org/officeDocument/2006/relationships/slideLayout" Target="/ppt/slideLayouts/slideLayout1.xml" Id="Rfa702349c41844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702349c418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999b56f8664f64" /><Relationship Type="http://schemas.openxmlformats.org/officeDocument/2006/relationships/notesSlide" Target="/ppt/notesSlides/notesSlide1.xml" Id="Re0b29eff6a2648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0c9c1964bb54815" /><Relationship Type="http://schemas.openxmlformats.org/officeDocument/2006/relationships/notesSlide" Target="/ppt/notesSlides/notesSlide2.xml" Id="R2e72ee7cd1eb42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38fcc8d566e4960" /><Relationship Type="http://schemas.openxmlformats.org/officeDocument/2006/relationships/notesSlide" Target="/ppt/notesSlides/notesSlide3.xml" Id="Rd9f708f11bfa42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997b6734fb4d36" /><Relationship Type="http://schemas.openxmlformats.org/officeDocument/2006/relationships/chart" Target="/ppt/slides/charts/chart1.xml" Id="R1f2875f7b6714eb2" /><Relationship Type="http://schemas.openxmlformats.org/officeDocument/2006/relationships/notesSlide" Target="/ppt/notesSlides/notesSlide4.xml" Id="Rd2afeb83227345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26ddc4d82884cc9" /><Relationship Type="http://schemas.openxmlformats.org/officeDocument/2006/relationships/notesSlide" Target="/ppt/notesSlides/notesSlide5.xml" Id="R2dcdf9a69909405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On-time rate (%)</c:v>
          </c:tx>
          <c:spPr>
            <a:solidFill xmlns:a="http://schemas.openxmlformats.org/drawingml/2006/main">
              <a:srgbClr val="2792AC"/>
            </a:solidFill>
          </c:spPr>
          <c:cat>
            <c:strRef>
              <c:f>'Chart Data'!$A$2:$A$6</c:f>
              <c:strCache>
                <c:ptCount val="5"/>
                <c:pt idx="0">
                  <c:v>Carrier C</c:v>
                </c:pt>
                <c:pt idx="1">
                  <c:v>Carrier A</c:v>
                </c:pt>
                <c:pt idx="2">
                  <c:v>Carrier E</c:v>
                </c:pt>
                <c:pt idx="3">
                  <c:v>Carrier B</c:v>
                </c:pt>
                <c:pt idx="4">
                  <c:v>Carrier D</c:v>
                </c:pt>
              </c:strCache>
            </c:strRef>
          </c:cat>
          <c:val>
            <c:numRef>
              <c:f>'Chart Data'!$B$2:$B$6</c:f>
              <c:numCache>
                <c:formatCode>General</c:formatCode>
                <c:ptCount val="5"/>
                <c:pt idx="0">
                  <c:v>97.83</c:v>
                </c:pt>
                <c:pt idx="1">
                  <c:v>92.5</c:v>
                </c:pt>
                <c:pt idx="2">
                  <c:v>90.63</c:v>
                </c:pt>
                <c:pt idx="3">
                  <c:v>89.43</c:v>
                </c:pt>
                <c:pt idx="4">
                  <c:v>87.65</c:v>
                </c:pt>
              </c:numCache>
            </c:numRef>
          </c:val>
        </c:ser>
        <c:dLbls>
          <c:txPr>
            <a:bodyPr xmlns:a="http://schemas.openxmlformats.org/drawingml/2006/main" anchorCtr="1"/>
            <a:lstStyle xmlns:a="http://schemas.openxmlformats.org/drawingml/2006/main"/>
            <a:p xmlns:a="http://schemas.openxmlformats.org/drawingml/2006/main">
              <a:pPr>
                <a:defRPr sz="1650">
                  <a:latin typeface="Bitstream Charter"/>
                  <a:ea typeface="Bitstream Charter"/>
                  <a:cs typeface="Bitstream Charter"/>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Bitstream Charter"/>
                <a:ea typeface="Bitstream Charter"/>
                <a:cs typeface="Bitstream Charter"/>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Bitstream Charter"/>
                <a:ea typeface="Bitstream Charter"/>
                <a:cs typeface="Bitstream Charter"/>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EFFECA-9C55-4FD3-8820-8CB7F36BD15A}"/>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247"/>
                </a:solidFill>
                <a:latin typeface="Bitstream Charter"/>
                <a:ea typeface="Bitstream Charter"/>
                <a:cs typeface="Bitstream Charter"/>
              </a:defRPr>
            </a:pPr>
            <a:r>
              <a:rPr sz="3300" b="1">
                <a:solidFill>
                  <a:srgbClr val="183247"/>
                </a:solidFill>
                <a:latin typeface="Bitstream Charter"/>
                <a:ea typeface="Bitstream Charter"/>
                <a:cs typeface="Bitstream Charter"/>
              </a:rPr>
              <a:t>JM Logistics: shipping performance</a:t>
            </a:r>
          </a:p>
        </p:txBody>
      </p:sp>
      <p:sp>
        <p:nvSpPr>
          <p:cNvPr id="2" name="">
            <a:extLst xmlns:a="http://schemas.openxmlformats.org/drawingml/2006/main">
              <a:ext uri="{FF2B5EF4-FFF2-40B4-BE49-F238E27FC236}">
                <a16:creationId xmlns:a16="http://schemas.microsoft.com/office/drawing/2014/main" id="{E2235453-002C-4FD6-A438-7F772A9CDF36}"/>
              </a:ext>
            </a:extLst>
          </p:cNvPr>
          <p:cNvSpPr>
            <a:spLocks xmlns:a="http://schemas.openxmlformats.org/drawingml/2006/main" noGrp="1"/>
          </p:cNvSpPr>
          <p:nvPr/>
        </p:nvSpPr>
        <p:spPr>
          <a:xfrm xmlns:a="http://schemas.openxmlformats.org/drawingml/2006/main">
            <a:off x="609600" y="639127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9"/>
                </a:solidFill>
                <a:latin typeface="Bitstream Charter"/>
                <a:ea typeface="Bitstream Charter"/>
                <a:cs typeface="Bitstream Charter"/>
              </a:defRPr>
            </a:pPr>
            <a:r>
              <a:rPr sz="1275" b="0">
                <a:solidFill>
                  <a:srgbClr val="526779"/>
                </a:solidFill>
                <a:latin typeface="Bitstream Charter"/>
                <a:ea typeface="Bitstream Charter"/>
                <a:cs typeface="Bitstream Charter"/>
              </a:rPr>
              <a:t>JM Logistics   /   Fictional practice data, 2025</a:t>
            </a:r>
          </a:p>
        </p:txBody>
      </p:sp>
      <p:sp>
        <p:nvSpPr>
          <p:cNvPr id="3" name="">
            <a:extLst xmlns:a="http://schemas.openxmlformats.org/drawingml/2006/main">
              <a:ext uri="{FF2B5EF4-FFF2-40B4-BE49-F238E27FC236}">
                <a16:creationId xmlns:a16="http://schemas.microsoft.com/office/drawing/2014/main" id="{C9826449-9124-4F96-9047-38B6DD07AE0D}"/>
              </a:ext>
            </a:extLst>
          </p:cNvPr>
          <p:cNvSpPr>
            <a:spLocks xmlns:a="http://schemas.openxmlformats.org/drawingml/2006/main" noGrp="1"/>
          </p:cNvSpPr>
          <p:nvPr/>
        </p:nvSpPr>
        <p:spPr>
          <a:xfrm xmlns:a="http://schemas.openxmlformats.org/drawingml/2006/main">
            <a:off x="11096625" y="63531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792AC"/>
                </a:solidFill>
                <a:latin typeface="Bitstream Charter"/>
                <a:ea typeface="Bitstream Charter"/>
                <a:cs typeface="Bitstream Charter"/>
              </a:defRPr>
            </a:pPr>
            <a:r>
              <a:rPr sz="1500" b="1">
                <a:solidFill>
                  <a:srgbClr val="2792AC"/>
                </a:solidFill>
                <a:latin typeface="Bitstream Charter"/>
                <a:ea typeface="Bitstream Charter"/>
                <a:cs typeface="Bitstream Charter"/>
              </a:rPr>
              <a:t>01</a:t>
            </a:r>
          </a:p>
        </p:txBody>
      </p:sp>
      <p:sp>
        <p:nvSpPr>
          <p:cNvPr id="4" name="">
            <a:extLst xmlns:a="http://schemas.openxmlformats.org/drawingml/2006/main">
              <a:ext uri="{FF2B5EF4-FFF2-40B4-BE49-F238E27FC236}">
                <a16:creationId xmlns:a16="http://schemas.microsoft.com/office/drawing/2014/main" id="{D84576A9-0572-4109-931A-5C737142B295}"/>
              </a:ext>
            </a:extLst>
          </p:cNvPr>
          <p:cNvSpPr>
            <a:spLocks xmlns:a="http://schemas.openxmlformats.org/drawingml/2006/main" noGrp="1"/>
          </p:cNvSpPr>
          <p:nvPr/>
        </p:nvSpPr>
        <p:spPr>
          <a:xfrm xmlns:a="http://schemas.openxmlformats.org/drawingml/2006/main">
            <a:off x="609600" y="13620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79"/>
                </a:solidFill>
                <a:latin typeface="Bitstream Charter"/>
                <a:ea typeface="Bitstream Charter"/>
                <a:cs typeface="Bitstream Charter"/>
              </a:defRPr>
            </a:pPr>
            <a:r>
              <a:rPr sz="1875" b="0">
                <a:solidFill>
                  <a:srgbClr val="526779"/>
                </a:solidFill>
                <a:latin typeface="Bitstream Charter"/>
                <a:ea typeface="Bitstream Charter"/>
                <a:cs typeface="Bitstream Charter"/>
              </a:rPr>
              <a:t>Mateyenu Moferi Adamu</a:t>
            </a:r>
          </a:p>
        </p:txBody>
      </p:sp>
      <p:sp>
        <p:nvSpPr>
          <p:cNvPr id="5" name="">
            <a:extLst xmlns:a="http://schemas.openxmlformats.org/drawingml/2006/main">
              <a:ext uri="{FF2B5EF4-FFF2-40B4-BE49-F238E27FC236}">
                <a16:creationId xmlns:a16="http://schemas.microsoft.com/office/drawing/2014/main" id="{8655C9C7-570B-4E83-8089-5DBB6DE1D39A}"/>
              </a:ext>
            </a:extLst>
          </p:cNvPr>
          <p:cNvSpPr>
            <a:spLocks xmlns:a="http://schemas.openxmlformats.org/drawingml/2006/main" noGrp="1"/>
          </p:cNvSpPr>
          <p:nvPr/>
        </p:nvSpPr>
        <p:spPr>
          <a:xfrm xmlns:a="http://schemas.openxmlformats.org/drawingml/2006/main">
            <a:off x="609600" y="2162175"/>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2792AC"/>
                </a:solidFill>
                <a:latin typeface="Bitstream Charter"/>
                <a:ea typeface="Bitstream Charter"/>
                <a:cs typeface="Bitstream Charter"/>
              </a:defRPr>
            </a:pPr>
            <a:r>
              <a:rPr sz="4200" b="1">
                <a:solidFill>
                  <a:srgbClr val="2792AC"/>
                </a:solidFill>
                <a:latin typeface="Bitstream Charter"/>
                <a:ea typeface="Bitstream Charter"/>
                <a:cs typeface="Bitstream Charter"/>
              </a:rPr>
              <a:t>1,000 shipments</a:t>
            </a:r>
          </a:p>
        </p:txBody>
      </p:sp>
      <p:sp>
        <p:nvSpPr>
          <p:cNvPr id="6" name="">
            <a:extLst xmlns:a="http://schemas.openxmlformats.org/drawingml/2006/main">
              <a:ext uri="{FF2B5EF4-FFF2-40B4-BE49-F238E27FC236}">
                <a16:creationId xmlns:a16="http://schemas.microsoft.com/office/drawing/2014/main" id="{0AC2A166-7A36-46FF-A7F4-FBC8C3EA1B95}"/>
              </a:ext>
            </a:extLst>
          </p:cNvPr>
          <p:cNvSpPr>
            <a:spLocks xmlns:a="http://schemas.openxmlformats.org/drawingml/2006/main" noGrp="1"/>
          </p:cNvSpPr>
          <p:nvPr/>
        </p:nvSpPr>
        <p:spPr>
          <a:xfrm xmlns:a="http://schemas.openxmlformats.org/drawingml/2006/main">
            <a:off x="609600" y="297180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247"/>
                </a:solidFill>
                <a:latin typeface="Bitstream Charter"/>
                <a:ea typeface="Bitstream Charter"/>
                <a:cs typeface="Bitstream Charter"/>
              </a:defRPr>
            </a:pPr>
            <a:r>
              <a:rPr sz="2100" b="0">
                <a:solidFill>
                  <a:srgbClr val="183247"/>
                </a:solidFill>
                <a:latin typeface="Bitstream Charter"/>
                <a:ea typeface="Bitstream Charter"/>
                <a:cs typeface="Bitstream Charter"/>
              </a:rPr>
              <a:t>Five carriers across January–December 2025</a:t>
            </a:r>
          </a:p>
        </p:txBody>
      </p:sp>
      <p:sp>
        <p:nvSpPr>
          <p:cNvPr id="7" name="">
            <a:extLst xmlns:a="http://schemas.openxmlformats.org/drawingml/2006/main">
              <a:ext uri="{FF2B5EF4-FFF2-40B4-BE49-F238E27FC236}">
                <a16:creationId xmlns:a16="http://schemas.microsoft.com/office/drawing/2014/main" id="{807F480A-C20D-4F01-8E57-F6E6B1376DC1}"/>
              </a:ext>
            </a:extLst>
          </p:cNvPr>
          <p:cNvSpPr>
            <a:spLocks xmlns:a="http://schemas.openxmlformats.org/drawingml/2006/main" noGrp="1"/>
          </p:cNvSpPr>
          <p:nvPr/>
        </p:nvSpPr>
        <p:spPr>
          <a:xfrm xmlns:a="http://schemas.openxmlformats.org/drawingml/2006/main">
            <a:off x="609600" y="391477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247"/>
                </a:solidFill>
                <a:latin typeface="Bitstream Charter"/>
                <a:ea typeface="Bitstream Charter"/>
                <a:cs typeface="Bitstream Charter"/>
              </a:defRPr>
            </a:pPr>
            <a:r>
              <a:rPr sz="2250" b="1">
                <a:solidFill>
                  <a:srgbClr val="183247"/>
                </a:solidFill>
                <a:latin typeface="Bitstream Charter"/>
                <a:ea typeface="Bitstream Charter"/>
                <a:cs typeface="Bitstream Charter"/>
              </a:rPr>
              <a:t>Business questions</a:t>
            </a:r>
          </a:p>
        </p:txBody>
      </p:sp>
      <p:sp>
        <p:nvSpPr>
          <p:cNvPr id="8" name="">
            <a:extLst xmlns:a="http://schemas.openxmlformats.org/drawingml/2006/main">
              <a:ext uri="{FF2B5EF4-FFF2-40B4-BE49-F238E27FC236}">
                <a16:creationId xmlns:a16="http://schemas.microsoft.com/office/drawing/2014/main" id="{EB8FA9BC-331D-4E2F-B673-8C244AB8F918}"/>
              </a:ext>
            </a:extLst>
          </p:cNvPr>
          <p:cNvSpPr>
            <a:spLocks xmlns:a="http://schemas.openxmlformats.org/drawingml/2006/main" noGrp="1"/>
          </p:cNvSpPr>
          <p:nvPr/>
        </p:nvSpPr>
        <p:spPr>
          <a:xfrm xmlns:a="http://schemas.openxmlformats.org/drawingml/2006/main">
            <a:off x="609600" y="4476750"/>
            <a:ext cx="106680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247"/>
                </a:solidFill>
                <a:latin typeface="Bitstream Charter"/>
                <a:ea typeface="Bitstream Charter"/>
                <a:cs typeface="Bitstream Charter"/>
              </a:defRPr>
            </a:pPr>
            <a:r>
              <a:rPr sz="2100" b="0">
                <a:solidFill>
                  <a:srgbClr val="183247"/>
                </a:solidFill>
                <a:latin typeface="Bitstream Charter"/>
                <a:ea typeface="Bitstream Charter"/>
                <a:cs typeface="Bitstream Charter"/>
              </a:rPr>
              <a:t>How many shipments did we handle, and what did they cost?</a:t>
            </a:r>
          </a:p>
          <a:p xmlns:a="http://schemas.openxmlformats.org/drawingml/2006/main">
            <a:pPr>
              <a:defRPr sz="2100" b="0">
                <a:solidFill>
                  <a:srgbClr val="183247"/>
                </a:solidFill>
                <a:latin typeface="Bitstream Charter"/>
                <a:ea typeface="Bitstream Charter"/>
                <a:cs typeface="Bitstream Charter"/>
              </a:defRPr>
            </a:pPr>
            <a:r>
              <a:rPr sz="2100" b="0">
                <a:solidFill>
                  <a:srgbClr val="183247"/>
                </a:solidFill>
                <a:latin typeface="Bitstream Charter"/>
                <a:ea typeface="Bitstream Charter"/>
                <a:cs typeface="Bitstream Charter"/>
              </a:rPr>
              <a:t>What was the average cost per shipment?</a:t>
            </a:r>
          </a:p>
          <a:p xmlns:a="http://schemas.openxmlformats.org/drawingml/2006/main">
            <a:pPr>
              <a:defRPr sz="2100" b="0">
                <a:solidFill>
                  <a:srgbClr val="183247"/>
                </a:solidFill>
                <a:latin typeface="Bitstream Charter"/>
                <a:ea typeface="Bitstream Charter"/>
                <a:cs typeface="Bitstream Charter"/>
              </a:defRPr>
            </a:pPr>
            <a:r>
              <a:rPr sz="2100" b="0">
                <a:solidFill>
                  <a:srgbClr val="183247"/>
                </a:solidFill>
                <a:latin typeface="Bitstream Charter"/>
                <a:ea typeface="Bitstream Charter"/>
                <a:cs typeface="Bitstream Charter"/>
              </a:rPr>
              <a:t>Which carriers delivered most reliably?</a:t>
            </a:r>
          </a:p>
        </p:txBody>
      </p:sp>
    </p:spTree>
    <p:extLst>
      <p:ext uri="{BB962C8B-B14F-4D97-AF65-F5344CB8AC3E}">
        <p14:creationId xmlns:p14="http://schemas.microsoft.com/office/powerpoint/2010/main" val="778091562"/>
      </p:ext>
    </p:extLst>
  </p:cSld>
</p:sld>
</file>

<file path=ppt/slides/slide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B04661C-180C-427E-8336-E367C6BB6EEA}"/>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247"/>
                </a:solidFill>
                <a:latin typeface="Bitstream Charter"/>
                <a:ea typeface="Bitstream Charter"/>
                <a:cs typeface="Bitstream Charter"/>
              </a:defRPr>
            </a:pPr>
            <a:r>
              <a:rPr sz="3300" b="1">
                <a:solidFill>
                  <a:srgbClr val="183247"/>
                </a:solidFill>
                <a:latin typeface="Bitstream Charter"/>
                <a:ea typeface="Bitstream Charter"/>
                <a:cs typeface="Bitstream Charter"/>
              </a:rPr>
              <a:t>MySQL and Power BI workflow</a:t>
            </a:r>
          </a:p>
        </p:txBody>
      </p:sp>
      <p:sp>
        <p:nvSpPr>
          <p:cNvPr id="2" name="">
            <a:extLst xmlns:a="http://schemas.openxmlformats.org/drawingml/2006/main">
              <a:ext uri="{FF2B5EF4-FFF2-40B4-BE49-F238E27FC236}">
                <a16:creationId xmlns:a16="http://schemas.microsoft.com/office/drawing/2014/main" id="{07215E45-D323-4F3F-8341-1BBC73F6E10A}"/>
              </a:ext>
            </a:extLst>
          </p:cNvPr>
          <p:cNvSpPr>
            <a:spLocks xmlns:a="http://schemas.openxmlformats.org/drawingml/2006/main" noGrp="1"/>
          </p:cNvSpPr>
          <p:nvPr/>
        </p:nvSpPr>
        <p:spPr>
          <a:xfrm xmlns:a="http://schemas.openxmlformats.org/drawingml/2006/main">
            <a:off x="609600" y="639127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9"/>
                </a:solidFill>
                <a:latin typeface="Bitstream Charter"/>
                <a:ea typeface="Bitstream Charter"/>
                <a:cs typeface="Bitstream Charter"/>
              </a:defRPr>
            </a:pPr>
            <a:r>
              <a:rPr sz="1275" b="0">
                <a:solidFill>
                  <a:srgbClr val="526779"/>
                </a:solidFill>
                <a:latin typeface="Bitstream Charter"/>
                <a:ea typeface="Bitstream Charter"/>
                <a:cs typeface="Bitstream Charter"/>
              </a:rPr>
              <a:t>JM Logistics   /   Fictional practice data, 2025</a:t>
            </a:r>
          </a:p>
        </p:txBody>
      </p:sp>
      <p:sp>
        <p:nvSpPr>
          <p:cNvPr id="3" name="">
            <a:extLst xmlns:a="http://schemas.openxmlformats.org/drawingml/2006/main">
              <a:ext uri="{FF2B5EF4-FFF2-40B4-BE49-F238E27FC236}">
                <a16:creationId xmlns:a16="http://schemas.microsoft.com/office/drawing/2014/main" id="{D3900225-7229-47CB-8840-91FA3C89309B}"/>
              </a:ext>
            </a:extLst>
          </p:cNvPr>
          <p:cNvSpPr>
            <a:spLocks xmlns:a="http://schemas.openxmlformats.org/drawingml/2006/main" noGrp="1"/>
          </p:cNvSpPr>
          <p:nvPr/>
        </p:nvSpPr>
        <p:spPr>
          <a:xfrm xmlns:a="http://schemas.openxmlformats.org/drawingml/2006/main">
            <a:off x="11096625" y="63531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792AC"/>
                </a:solidFill>
                <a:latin typeface="Bitstream Charter"/>
                <a:ea typeface="Bitstream Charter"/>
                <a:cs typeface="Bitstream Charter"/>
              </a:defRPr>
            </a:pPr>
            <a:r>
              <a:rPr sz="1500" b="1">
                <a:solidFill>
                  <a:srgbClr val="2792AC"/>
                </a:solidFill>
                <a:latin typeface="Bitstream Charter"/>
                <a:ea typeface="Bitstream Charter"/>
                <a:cs typeface="Bitstream Charter"/>
              </a:rPr>
              <a:t>02</a:t>
            </a:r>
          </a:p>
        </p:txBody>
      </p:sp>
      <p:sp>
        <p:nvSpPr>
          <p:cNvPr id="4" name="">
            <a:extLst xmlns:a="http://schemas.openxmlformats.org/drawingml/2006/main">
              <a:ext uri="{FF2B5EF4-FFF2-40B4-BE49-F238E27FC236}">
                <a16:creationId xmlns:a16="http://schemas.microsoft.com/office/drawing/2014/main" id="{F911F95B-6F0E-4873-9A59-70783719B30B}"/>
              </a:ext>
            </a:extLst>
          </p:cNvPr>
          <p:cNvSpPr>
            <a:spLocks xmlns:a="http://schemas.openxmlformats.org/drawingml/2006/main" noGrp="1"/>
          </p:cNvSpPr>
          <p:nvPr/>
        </p:nvSpPr>
        <p:spPr>
          <a:xfrm xmlns:a="http://schemas.openxmlformats.org/drawingml/2006/main">
            <a:off x="609600" y="1762125"/>
            <a:ext cx="228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792AC"/>
                </a:solidFill>
                <a:latin typeface="Bitstream Charter"/>
                <a:ea typeface="Bitstream Charter"/>
                <a:cs typeface="Bitstream Charter"/>
              </a:defRPr>
            </a:pPr>
            <a:r>
              <a:rPr sz="2325" b="1">
                <a:solidFill>
                  <a:srgbClr val="2792AC"/>
                </a:solidFill>
                <a:latin typeface="Bitstream Charter"/>
                <a:ea typeface="Bitstream Charter"/>
                <a:cs typeface="Bitstream Charter"/>
              </a:rPr>
              <a:t>MySQL</a:t>
            </a:r>
          </a:p>
        </p:txBody>
      </p:sp>
      <p:sp>
        <p:nvSpPr>
          <p:cNvPr id="5" name="">
            <a:extLst xmlns:a="http://schemas.openxmlformats.org/drawingml/2006/main">
              <a:ext uri="{FF2B5EF4-FFF2-40B4-BE49-F238E27FC236}">
                <a16:creationId xmlns:a16="http://schemas.microsoft.com/office/drawing/2014/main" id="{0F7B58B1-7495-4CE3-B1CD-C98DF3615915}"/>
              </a:ext>
            </a:extLst>
          </p:cNvPr>
          <p:cNvSpPr>
            <a:spLocks xmlns:a="http://schemas.openxmlformats.org/drawingml/2006/main" noGrp="1"/>
          </p:cNvSpPr>
          <p:nvPr/>
        </p:nvSpPr>
        <p:spPr>
          <a:xfrm xmlns:a="http://schemas.openxmlformats.org/drawingml/2006/main">
            <a:off x="3067050" y="1762125"/>
            <a:ext cx="83629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247"/>
                </a:solidFill>
                <a:latin typeface="Bitstream Charter"/>
                <a:ea typeface="Bitstream Charter"/>
                <a:cs typeface="Bitstream Charter"/>
              </a:defRPr>
            </a:pPr>
            <a:r>
              <a:rPr sz="2100" b="0">
                <a:solidFill>
                  <a:srgbClr val="183247"/>
                </a:solidFill>
                <a:latin typeface="Bitstream Charter"/>
                <a:ea typeface="Bitstream Charter"/>
                <a:cs typeface="Bitstream Charter"/>
              </a:rPr>
              <a:t>Calculated overall totals and breakdowns by carrier and month.</a:t>
            </a:r>
          </a:p>
        </p:txBody>
      </p:sp>
      <p:sp>
        <p:nvSpPr>
          <p:cNvPr id="6" name="">
            <a:extLst xmlns:a="http://schemas.openxmlformats.org/drawingml/2006/main">
              <a:ext uri="{FF2B5EF4-FFF2-40B4-BE49-F238E27FC236}">
                <a16:creationId xmlns:a16="http://schemas.microsoft.com/office/drawing/2014/main" id="{E9F0A457-5162-4634-B2AB-EF9F2D1B364C}"/>
              </a:ext>
            </a:extLst>
          </p:cNvPr>
          <p:cNvSpPr>
            <a:spLocks xmlns:a="http://schemas.openxmlformats.org/drawingml/2006/main" noGrp="1"/>
          </p:cNvSpPr>
          <p:nvPr/>
        </p:nvSpPr>
        <p:spPr>
          <a:xfrm xmlns:a="http://schemas.openxmlformats.org/drawingml/2006/main">
            <a:off x="609600" y="2809875"/>
            <a:ext cx="228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792AC"/>
                </a:solidFill>
                <a:latin typeface="Bitstream Charter"/>
                <a:ea typeface="Bitstream Charter"/>
                <a:cs typeface="Bitstream Charter"/>
              </a:defRPr>
            </a:pPr>
            <a:r>
              <a:rPr sz="2325" b="1">
                <a:solidFill>
                  <a:srgbClr val="2792AC"/>
                </a:solidFill>
                <a:latin typeface="Bitstream Charter"/>
                <a:ea typeface="Bitstream Charter"/>
                <a:cs typeface="Bitstream Charter"/>
              </a:rPr>
              <a:t>Power Query</a:t>
            </a:r>
          </a:p>
        </p:txBody>
      </p:sp>
      <p:sp>
        <p:nvSpPr>
          <p:cNvPr id="7" name="">
            <a:extLst xmlns:a="http://schemas.openxmlformats.org/drawingml/2006/main">
              <a:ext uri="{FF2B5EF4-FFF2-40B4-BE49-F238E27FC236}">
                <a16:creationId xmlns:a16="http://schemas.microsoft.com/office/drawing/2014/main" id="{D09682E2-2DFE-4CE6-BDE1-A673BE46AB31}"/>
              </a:ext>
            </a:extLst>
          </p:cNvPr>
          <p:cNvSpPr>
            <a:spLocks xmlns:a="http://schemas.openxmlformats.org/drawingml/2006/main" noGrp="1"/>
          </p:cNvSpPr>
          <p:nvPr/>
        </p:nvSpPr>
        <p:spPr>
          <a:xfrm xmlns:a="http://schemas.openxmlformats.org/drawingml/2006/main">
            <a:off x="3067050" y="2809875"/>
            <a:ext cx="83629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247"/>
                </a:solidFill>
                <a:latin typeface="Bitstream Charter"/>
                <a:ea typeface="Bitstream Charter"/>
                <a:cs typeface="Bitstream Charter"/>
              </a:defRPr>
            </a:pPr>
            <a:r>
              <a:rPr sz="2100" b="0">
                <a:solidFill>
                  <a:srgbClr val="183247"/>
                </a:solidFill>
                <a:latin typeface="Bitstream Charter"/>
                <a:ea typeface="Bitstream Charter"/>
                <a:cs typeface="Bitstream Charter"/>
              </a:rPr>
              <a:t>Set data types, trimmed text, and checked missing values and errors.</a:t>
            </a:r>
          </a:p>
        </p:txBody>
      </p:sp>
      <p:sp>
        <p:nvSpPr>
          <p:cNvPr id="8" name="">
            <a:extLst xmlns:a="http://schemas.openxmlformats.org/drawingml/2006/main">
              <a:ext uri="{FF2B5EF4-FFF2-40B4-BE49-F238E27FC236}">
                <a16:creationId xmlns:a16="http://schemas.microsoft.com/office/drawing/2014/main" id="{763EE7B2-4F31-4641-871E-DDDEE2575825}"/>
              </a:ext>
            </a:extLst>
          </p:cNvPr>
          <p:cNvSpPr>
            <a:spLocks xmlns:a="http://schemas.openxmlformats.org/drawingml/2006/main" noGrp="1"/>
          </p:cNvSpPr>
          <p:nvPr/>
        </p:nvSpPr>
        <p:spPr>
          <a:xfrm xmlns:a="http://schemas.openxmlformats.org/drawingml/2006/main">
            <a:off x="609600" y="3857625"/>
            <a:ext cx="228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792AC"/>
                </a:solidFill>
                <a:latin typeface="Bitstream Charter"/>
                <a:ea typeface="Bitstream Charter"/>
                <a:cs typeface="Bitstream Charter"/>
              </a:defRPr>
            </a:pPr>
            <a:r>
              <a:rPr sz="2325" b="1">
                <a:solidFill>
                  <a:srgbClr val="2792AC"/>
                </a:solidFill>
                <a:latin typeface="Bitstream Charter"/>
                <a:ea typeface="Bitstream Charter"/>
                <a:cs typeface="Bitstream Charter"/>
              </a:rPr>
              <a:t>DAX</a:t>
            </a:r>
          </a:p>
        </p:txBody>
      </p:sp>
      <p:sp>
        <p:nvSpPr>
          <p:cNvPr id="9" name="">
            <a:extLst xmlns:a="http://schemas.openxmlformats.org/drawingml/2006/main">
              <a:ext uri="{FF2B5EF4-FFF2-40B4-BE49-F238E27FC236}">
                <a16:creationId xmlns:a16="http://schemas.microsoft.com/office/drawing/2014/main" id="{CC3B34EB-B08F-42B8-92A1-4ABC52D8D3CC}"/>
              </a:ext>
            </a:extLst>
          </p:cNvPr>
          <p:cNvSpPr>
            <a:spLocks xmlns:a="http://schemas.openxmlformats.org/drawingml/2006/main" noGrp="1"/>
          </p:cNvSpPr>
          <p:nvPr/>
        </p:nvSpPr>
        <p:spPr>
          <a:xfrm xmlns:a="http://schemas.openxmlformats.org/drawingml/2006/main">
            <a:off x="3067050" y="3857625"/>
            <a:ext cx="83629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247"/>
                </a:solidFill>
                <a:latin typeface="Bitstream Charter"/>
                <a:ea typeface="Bitstream Charter"/>
                <a:cs typeface="Bitstream Charter"/>
              </a:defRPr>
            </a:pPr>
            <a:r>
              <a:rPr sz="2100" b="0">
                <a:solidFill>
                  <a:srgbClr val="183247"/>
                </a:solidFill>
                <a:latin typeface="Bitstream Charter"/>
                <a:ea typeface="Bitstream Charter"/>
                <a:cs typeface="Bitstream Charter"/>
              </a:rPr>
              <a:t>Created shipment, freight cost, average cost, and on-time measures.</a:t>
            </a:r>
          </a:p>
        </p:txBody>
      </p:sp>
      <p:sp>
        <p:nvSpPr>
          <p:cNvPr id="10" name="">
            <a:extLst xmlns:a="http://schemas.openxmlformats.org/drawingml/2006/main">
              <a:ext uri="{FF2B5EF4-FFF2-40B4-BE49-F238E27FC236}">
                <a16:creationId xmlns:a16="http://schemas.microsoft.com/office/drawing/2014/main" id="{E6941EAD-3305-4B40-A874-3426767A20AD}"/>
              </a:ext>
            </a:extLst>
          </p:cNvPr>
          <p:cNvSpPr>
            <a:spLocks xmlns:a="http://schemas.openxmlformats.org/drawingml/2006/main" noGrp="1"/>
          </p:cNvSpPr>
          <p:nvPr/>
        </p:nvSpPr>
        <p:spPr>
          <a:xfrm xmlns:a="http://schemas.openxmlformats.org/drawingml/2006/main">
            <a:off x="609600" y="52673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247"/>
                </a:solidFill>
                <a:latin typeface="Bitstream Charter"/>
                <a:ea typeface="Bitstream Charter"/>
                <a:cs typeface="Bitstream Charter"/>
              </a:defRPr>
            </a:pPr>
            <a:r>
              <a:rPr sz="1800" b="1">
                <a:solidFill>
                  <a:srgbClr val="183247"/>
                </a:solidFill>
                <a:latin typeface="Bitstream Charter"/>
                <a:ea typeface="Bitstream Charter"/>
                <a:cs typeface="Bitstream Charter"/>
              </a:rPr>
              <a:t>On-Time Delivery Rate = DIVIDE([On-Time Shipments], [Total Shipments])</a:t>
            </a:r>
          </a:p>
        </p:txBody>
      </p:sp>
    </p:spTree>
    <p:extLst>
      <p:ext uri="{BB962C8B-B14F-4D97-AF65-F5344CB8AC3E}">
        <p14:creationId xmlns:p14="http://schemas.microsoft.com/office/powerpoint/2010/main" val="887019678"/>
      </p:ext>
    </p:extLst>
  </p:cSld>
</p:sld>
</file>

<file path=ppt/slides/slide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40F9C2-0A89-4958-9032-561DC7547EF1}"/>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247"/>
                </a:solidFill>
                <a:latin typeface="Bitstream Charter"/>
                <a:ea typeface="Bitstream Charter"/>
                <a:cs typeface="Bitstream Charter"/>
              </a:defRPr>
            </a:pPr>
            <a:r>
              <a:rPr sz="3300" b="1">
                <a:solidFill>
                  <a:srgbClr val="183247"/>
                </a:solidFill>
                <a:latin typeface="Bitstream Charter"/>
                <a:ea typeface="Bitstream Charter"/>
                <a:cs typeface="Bitstream Charter"/>
              </a:rPr>
              <a:t>Power BI figures reconcile with MySQL</a:t>
            </a:r>
          </a:p>
        </p:txBody>
      </p:sp>
      <p:sp>
        <p:nvSpPr>
          <p:cNvPr id="2" name="">
            <a:extLst xmlns:a="http://schemas.openxmlformats.org/drawingml/2006/main">
              <a:ext uri="{FF2B5EF4-FFF2-40B4-BE49-F238E27FC236}">
                <a16:creationId xmlns:a16="http://schemas.microsoft.com/office/drawing/2014/main" id="{93ED6F75-B558-4648-A069-F4336DF533EF}"/>
              </a:ext>
            </a:extLst>
          </p:cNvPr>
          <p:cNvSpPr>
            <a:spLocks xmlns:a="http://schemas.openxmlformats.org/drawingml/2006/main" noGrp="1"/>
          </p:cNvSpPr>
          <p:nvPr/>
        </p:nvSpPr>
        <p:spPr>
          <a:xfrm xmlns:a="http://schemas.openxmlformats.org/drawingml/2006/main">
            <a:off x="609600" y="639127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9"/>
                </a:solidFill>
                <a:latin typeface="Bitstream Charter"/>
                <a:ea typeface="Bitstream Charter"/>
                <a:cs typeface="Bitstream Charter"/>
              </a:defRPr>
            </a:pPr>
            <a:r>
              <a:rPr sz="1275" b="0">
                <a:solidFill>
                  <a:srgbClr val="526779"/>
                </a:solidFill>
                <a:latin typeface="Bitstream Charter"/>
                <a:ea typeface="Bitstream Charter"/>
                <a:cs typeface="Bitstream Charter"/>
              </a:rPr>
              <a:t>JM Logistics   /   Fictional practice data, 2025</a:t>
            </a:r>
          </a:p>
        </p:txBody>
      </p:sp>
      <p:sp>
        <p:nvSpPr>
          <p:cNvPr id="3" name="">
            <a:extLst xmlns:a="http://schemas.openxmlformats.org/drawingml/2006/main">
              <a:ext uri="{FF2B5EF4-FFF2-40B4-BE49-F238E27FC236}">
                <a16:creationId xmlns:a16="http://schemas.microsoft.com/office/drawing/2014/main" id="{DCA424A9-B34E-41C3-BE90-8DC572EF650B}"/>
              </a:ext>
            </a:extLst>
          </p:cNvPr>
          <p:cNvSpPr>
            <a:spLocks xmlns:a="http://schemas.openxmlformats.org/drawingml/2006/main" noGrp="1"/>
          </p:cNvSpPr>
          <p:nvPr/>
        </p:nvSpPr>
        <p:spPr>
          <a:xfrm xmlns:a="http://schemas.openxmlformats.org/drawingml/2006/main">
            <a:off x="11096625" y="63531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792AC"/>
                </a:solidFill>
                <a:latin typeface="Bitstream Charter"/>
                <a:ea typeface="Bitstream Charter"/>
                <a:cs typeface="Bitstream Charter"/>
              </a:defRPr>
            </a:pPr>
            <a:r>
              <a:rPr sz="1500" b="1">
                <a:solidFill>
                  <a:srgbClr val="2792AC"/>
                </a:solidFill>
                <a:latin typeface="Bitstream Charter"/>
                <a:ea typeface="Bitstream Charter"/>
                <a:cs typeface="Bitstream Charter"/>
              </a:rPr>
              <a:t>03</a:t>
            </a:r>
          </a:p>
        </p:txBody>
      </p:sp>
      <p:graphicFrame>
        <p:nvGraphicFramePr>
          <p:cNvPr id="9" name=""/>
          <p:cNvGraphicFramePr/>
          <p:nvPr/>
        </p:nvGraphicFramePr>
        <p:xfrm>
          <a:off xmlns:a="http://schemas.openxmlformats.org/drawingml/2006/main" x="609600" y="1752600"/>
          <a:ext xmlns:a="http://schemas.openxmlformats.org/drawingml/2006/main" cx="10972800" cy="3333750"/>
        </p:xfrm>
        <a:graphic xmlns:a="http://schemas.openxmlformats.org/drawingml/2006/main">
          <a:graphicData uri="http://schemas.openxmlformats.org/drawingml/2006/table">
            <a:tbl>
              <a:tblPr/>
              <a:tblGrid>
                <a:gridCol w="4572000"/>
                <a:gridCol w="3200400"/>
                <a:gridCol w="3200400"/>
              </a:tblGrid>
              <a:tr h="555625">
                <a:tc>
                  <a:txBody>
                    <a:bodyPr/>
                    <a:lstStyle/>
                    <a:p>
                      <a:r>
                        <a:rPr sz="1875" b="1">
                          <a:solidFill>
                            <a:srgbClr val="FFFFFF"/>
                          </a:solidFill>
                          <a:latin typeface="Bitstream Charter"/>
                          <a:ea typeface="Bitstream Charter"/>
                          <a:cs typeface="Bitstream Charter"/>
                        </a:rPr>
                        <a:t>Metric</a:t>
                      </a:r>
                    </a:p>
                  </a:txBody>
                  <a:tcPr marL="142875" marR="142875" marT="95250" marB="95250">
                    <a:solidFill>
                      <a:srgbClr val="183247"/>
                    </a:solidFill>
                  </a:tcPr>
                </a:tc>
                <a:tc>
                  <a:txBody>
                    <a:bodyPr/>
                    <a:lstStyle/>
                    <a:p>
                      <a:r>
                        <a:rPr sz="1875" b="1">
                          <a:solidFill>
                            <a:srgbClr val="FFFFFF"/>
                          </a:solidFill>
                          <a:latin typeface="Bitstream Charter"/>
                          <a:ea typeface="Bitstream Charter"/>
                          <a:cs typeface="Bitstream Charter"/>
                        </a:rPr>
                        <a:t>MySQL</a:t>
                      </a:r>
                    </a:p>
                  </a:txBody>
                  <a:tcPr marL="142875" marR="142875" marT="95250" marB="95250">
                    <a:solidFill>
                      <a:srgbClr val="183247"/>
                    </a:solidFill>
                  </a:tcPr>
                </a:tc>
                <a:tc>
                  <a:txBody>
                    <a:bodyPr/>
                    <a:lstStyle/>
                    <a:p>
                      <a:r>
                        <a:rPr sz="1875" b="1">
                          <a:solidFill>
                            <a:srgbClr val="FFFFFF"/>
                          </a:solidFill>
                          <a:latin typeface="Bitstream Charter"/>
                          <a:ea typeface="Bitstream Charter"/>
                          <a:cs typeface="Bitstream Charter"/>
                        </a:rPr>
                        <a:t>Power BI</a:t>
                      </a:r>
                    </a:p>
                  </a:txBody>
                  <a:tcPr marL="142875" marR="142875" marT="95250" marB="95250">
                    <a:solidFill>
                      <a:srgbClr val="183247"/>
                    </a:solidFill>
                  </a:tcPr>
                </a:tc>
              </a:tr>
              <a:tr h="555625">
                <a:tc>
                  <a:txBody>
                    <a:bodyPr/>
                    <a:lstStyle/>
                    <a:p>
                      <a:r>
                        <a:rPr sz="1950">
                          <a:solidFill>
                            <a:srgbClr val="183247"/>
                          </a:solidFill>
                          <a:latin typeface="Bitstream Charter"/>
                          <a:ea typeface="Bitstream Charter"/>
                          <a:cs typeface="Bitstream Charter"/>
                        </a:rPr>
                        <a:t>Shipments</a:t>
                      </a:r>
                    </a:p>
                  </a:txBody>
                  <a:tcPr marL="142875" marR="142875" marT="95250" marB="95250">
                    <a:solidFill>
                      <a:srgbClr val="FFFFFF"/>
                    </a:solidFill>
                  </a:tcPr>
                </a:tc>
                <a:tc>
                  <a:txBody>
                    <a:bodyPr/>
                    <a:lstStyle/>
                    <a:p>
                      <a:r>
                        <a:rPr sz="1950">
                          <a:solidFill>
                            <a:srgbClr val="183247"/>
                          </a:solidFill>
                          <a:latin typeface="Bitstream Charter"/>
                          <a:ea typeface="Bitstream Charter"/>
                          <a:cs typeface="Bitstream Charter"/>
                        </a:rPr>
                        <a:t>1,000</a:t>
                      </a:r>
                    </a:p>
                  </a:txBody>
                  <a:tcPr marL="142875" marR="142875" marT="95250" marB="95250">
                    <a:solidFill>
                      <a:srgbClr val="FFFFFF"/>
                    </a:solidFill>
                  </a:tcPr>
                </a:tc>
                <a:tc>
                  <a:txBody>
                    <a:bodyPr/>
                    <a:lstStyle/>
                    <a:p>
                      <a:r>
                        <a:rPr sz="1950">
                          <a:solidFill>
                            <a:srgbClr val="183247"/>
                          </a:solidFill>
                          <a:latin typeface="Bitstream Charter"/>
                          <a:ea typeface="Bitstream Charter"/>
                          <a:cs typeface="Bitstream Charter"/>
                        </a:rPr>
                        <a:t>1,000</a:t>
                      </a:r>
                    </a:p>
                  </a:txBody>
                  <a:tcPr marL="142875" marR="142875" marT="95250" marB="95250">
                    <a:solidFill>
                      <a:srgbClr val="FFFFFF"/>
                    </a:solidFill>
                  </a:tcPr>
                </a:tc>
              </a:tr>
              <a:tr h="555625">
                <a:tc>
                  <a:txBody>
                    <a:bodyPr/>
                    <a:lstStyle/>
                    <a:p>
                      <a:r>
                        <a:rPr sz="1950">
                          <a:solidFill>
                            <a:srgbClr val="183247"/>
                          </a:solidFill>
                          <a:latin typeface="Bitstream Charter"/>
                          <a:ea typeface="Bitstream Charter"/>
                          <a:cs typeface="Bitstream Charter"/>
                        </a:rPr>
                        <a:t>Freight cost</a:t>
                      </a:r>
                    </a:p>
                  </a:txBody>
                  <a:tcPr marL="142875" marR="142875" marT="95250" marB="95250">
                    <a:solidFill>
                      <a:srgbClr val="FFFFFF"/>
                    </a:solidFill>
                  </a:tcPr>
                </a:tc>
                <a:tc>
                  <a:txBody>
                    <a:bodyPr/>
                    <a:lstStyle/>
                    <a:p>
                      <a:r>
                        <a:rPr sz="1950">
                          <a:solidFill>
                            <a:srgbClr val="183247"/>
                          </a:solidFill>
                          <a:latin typeface="Bitstream Charter"/>
                          <a:ea typeface="Bitstream Charter"/>
                          <a:cs typeface="Bitstream Charter"/>
                        </a:rPr>
                        <a:t>$1,481,697.36</a:t>
                      </a:r>
                    </a:p>
                  </a:txBody>
                  <a:tcPr marL="142875" marR="142875" marT="95250" marB="95250">
                    <a:solidFill>
                      <a:srgbClr val="FFFFFF"/>
                    </a:solidFill>
                  </a:tcPr>
                </a:tc>
                <a:tc>
                  <a:txBody>
                    <a:bodyPr/>
                    <a:lstStyle/>
                    <a:p>
                      <a:r>
                        <a:rPr sz="1950">
                          <a:solidFill>
                            <a:srgbClr val="183247"/>
                          </a:solidFill>
                          <a:latin typeface="Bitstream Charter"/>
                          <a:ea typeface="Bitstream Charter"/>
                          <a:cs typeface="Bitstream Charter"/>
                        </a:rPr>
                        <a:t>$1,481,697.36</a:t>
                      </a:r>
                    </a:p>
                  </a:txBody>
                  <a:tcPr marL="142875" marR="142875" marT="95250" marB="95250">
                    <a:solidFill>
                      <a:srgbClr val="FFFFFF"/>
                    </a:solidFill>
                  </a:tcPr>
                </a:tc>
              </a:tr>
              <a:tr h="555625">
                <a:tc>
                  <a:txBody>
                    <a:bodyPr/>
                    <a:lstStyle/>
                    <a:p>
                      <a:r>
                        <a:rPr sz="1950">
                          <a:solidFill>
                            <a:srgbClr val="183247"/>
                          </a:solidFill>
                          <a:latin typeface="Bitstream Charter"/>
                          <a:ea typeface="Bitstream Charter"/>
                          <a:cs typeface="Bitstream Charter"/>
                        </a:rPr>
                        <a:t>Average shipment cost</a:t>
                      </a:r>
                    </a:p>
                  </a:txBody>
                  <a:tcPr marL="142875" marR="142875" marT="95250" marB="95250">
                    <a:solidFill>
                      <a:srgbClr val="FFFFFF"/>
                    </a:solidFill>
                  </a:tcPr>
                </a:tc>
                <a:tc>
                  <a:txBody>
                    <a:bodyPr/>
                    <a:lstStyle/>
                    <a:p>
                      <a:r>
                        <a:rPr sz="1950">
                          <a:solidFill>
                            <a:srgbClr val="183247"/>
                          </a:solidFill>
                          <a:latin typeface="Bitstream Charter"/>
                          <a:ea typeface="Bitstream Charter"/>
                          <a:cs typeface="Bitstream Charter"/>
                        </a:rPr>
                        <a:t>$1,481.70</a:t>
                      </a:r>
                    </a:p>
                  </a:txBody>
                  <a:tcPr marL="142875" marR="142875" marT="95250" marB="95250">
                    <a:solidFill>
                      <a:srgbClr val="FFFFFF"/>
                    </a:solidFill>
                  </a:tcPr>
                </a:tc>
                <a:tc>
                  <a:txBody>
                    <a:bodyPr/>
                    <a:lstStyle/>
                    <a:p>
                      <a:r>
                        <a:rPr sz="1950">
                          <a:solidFill>
                            <a:srgbClr val="183247"/>
                          </a:solidFill>
                          <a:latin typeface="Bitstream Charter"/>
                          <a:ea typeface="Bitstream Charter"/>
                          <a:cs typeface="Bitstream Charter"/>
                        </a:rPr>
                        <a:t>$1,481.70</a:t>
                      </a:r>
                    </a:p>
                  </a:txBody>
                  <a:tcPr marL="142875" marR="142875" marT="95250" marB="95250">
                    <a:solidFill>
                      <a:srgbClr val="FFFFFF"/>
                    </a:solidFill>
                  </a:tcPr>
                </a:tc>
              </a:tr>
              <a:tr h="555625">
                <a:tc>
                  <a:txBody>
                    <a:bodyPr/>
                    <a:lstStyle/>
                    <a:p>
                      <a:r>
                        <a:rPr sz="1950">
                          <a:solidFill>
                            <a:srgbClr val="183247"/>
                          </a:solidFill>
                          <a:latin typeface="Bitstream Charter"/>
                          <a:ea typeface="Bitstream Charter"/>
                          <a:cs typeface="Bitstream Charter"/>
                        </a:rPr>
                        <a:t>On-time shipments</a:t>
                      </a:r>
                    </a:p>
                  </a:txBody>
                  <a:tcPr marL="142875" marR="142875" marT="95250" marB="95250">
                    <a:solidFill>
                      <a:srgbClr val="FFFFFF"/>
                    </a:solidFill>
                  </a:tcPr>
                </a:tc>
                <a:tc>
                  <a:txBody>
                    <a:bodyPr/>
                    <a:lstStyle/>
                    <a:p>
                      <a:r>
                        <a:rPr sz="1950">
                          <a:solidFill>
                            <a:srgbClr val="183247"/>
                          </a:solidFill>
                          <a:latin typeface="Bitstream Charter"/>
                          <a:ea typeface="Bitstream Charter"/>
                          <a:cs typeface="Bitstream Charter"/>
                        </a:rPr>
                        <a:t>917</a:t>
                      </a:r>
                    </a:p>
                  </a:txBody>
                  <a:tcPr marL="142875" marR="142875" marT="95250" marB="95250">
                    <a:solidFill>
                      <a:srgbClr val="FFFFFF"/>
                    </a:solidFill>
                  </a:tcPr>
                </a:tc>
                <a:tc>
                  <a:txBody>
                    <a:bodyPr/>
                    <a:lstStyle/>
                    <a:p>
                      <a:r>
                        <a:rPr sz="1950">
                          <a:solidFill>
                            <a:srgbClr val="183247"/>
                          </a:solidFill>
                          <a:latin typeface="Bitstream Charter"/>
                          <a:ea typeface="Bitstream Charter"/>
                          <a:cs typeface="Bitstream Charter"/>
                        </a:rPr>
                        <a:t>917</a:t>
                      </a:r>
                    </a:p>
                  </a:txBody>
                  <a:tcPr marL="142875" marR="142875" marT="95250" marB="95250">
                    <a:solidFill>
                      <a:srgbClr val="FFFFFF"/>
                    </a:solidFill>
                  </a:tcPr>
                </a:tc>
              </a:tr>
              <a:tr h="555625">
                <a:tc>
                  <a:txBody>
                    <a:bodyPr/>
                    <a:lstStyle/>
                    <a:p>
                      <a:r>
                        <a:rPr sz="1950">
                          <a:solidFill>
                            <a:srgbClr val="183247"/>
                          </a:solidFill>
                          <a:latin typeface="Bitstream Charter"/>
                          <a:ea typeface="Bitstream Charter"/>
                          <a:cs typeface="Bitstream Charter"/>
                        </a:rPr>
                        <a:t>On-time delivery rate</a:t>
                      </a:r>
                    </a:p>
                  </a:txBody>
                  <a:tcPr marL="142875" marR="142875" marT="95250" marB="95250">
                    <a:solidFill>
                      <a:srgbClr val="FFFFFF"/>
                    </a:solidFill>
                  </a:tcPr>
                </a:tc>
                <a:tc>
                  <a:txBody>
                    <a:bodyPr/>
                    <a:lstStyle/>
                    <a:p>
                      <a:r>
                        <a:rPr sz="1950">
                          <a:solidFill>
                            <a:srgbClr val="183247"/>
                          </a:solidFill>
                          <a:latin typeface="Bitstream Charter"/>
                          <a:ea typeface="Bitstream Charter"/>
                          <a:cs typeface="Bitstream Charter"/>
                        </a:rPr>
                        <a:t>91.70%</a:t>
                      </a:r>
                    </a:p>
                  </a:txBody>
                  <a:tcPr marL="142875" marR="142875" marT="95250" marB="95250">
                    <a:solidFill>
                      <a:srgbClr val="FFFFFF"/>
                    </a:solidFill>
                  </a:tcPr>
                </a:tc>
                <a:tc>
                  <a:txBody>
                    <a:bodyPr/>
                    <a:lstStyle/>
                    <a:p>
                      <a:r>
                        <a:rPr sz="1950">
                          <a:solidFill>
                            <a:srgbClr val="183247"/>
                          </a:solidFill>
                          <a:latin typeface="Bitstream Charter"/>
                          <a:ea typeface="Bitstream Charter"/>
                          <a:cs typeface="Bitstream Charter"/>
                        </a:rPr>
                        <a:t>91.70%</a:t>
                      </a:r>
                    </a:p>
                  </a:txBody>
                  <a:tcPr marL="142875" marR="142875" marT="95250" marB="9525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CAF0F51-BF99-40D3-B70C-379160CA88ED}"/>
              </a:ext>
            </a:extLst>
          </p:cNvPr>
          <p:cNvSpPr>
            <a:spLocks xmlns:a="http://schemas.openxmlformats.org/drawingml/2006/main" noGrp="1"/>
          </p:cNvSpPr>
          <p:nvPr/>
        </p:nvSpPr>
        <p:spPr>
          <a:xfrm xmlns:a="http://schemas.openxmlformats.org/drawingml/2006/main">
            <a:off x="609600" y="54483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792AC"/>
                </a:solidFill>
                <a:latin typeface="Bitstream Charter"/>
                <a:ea typeface="Bitstream Charter"/>
                <a:cs typeface="Bitstream Charter"/>
              </a:defRPr>
            </a:pPr>
            <a:r>
              <a:rPr sz="1950" b="1">
                <a:solidFill>
                  <a:srgbClr val="2792AC"/>
                </a:solidFill>
                <a:latin typeface="Bitstream Charter"/>
                <a:ea typeface="Bitstream Charter"/>
                <a:cs typeface="Bitstream Charter"/>
              </a:rPr>
              <a:t>Same period and filters in both tools. All displayed differences: zero.</a:t>
            </a:r>
          </a:p>
        </p:txBody>
      </p:sp>
    </p:spTree>
    <p:extLst>
      <p:ext uri="{BB962C8B-B14F-4D97-AF65-F5344CB8AC3E}">
        <p14:creationId xmlns:p14="http://schemas.microsoft.com/office/powerpoint/2010/main" val="2087087308"/>
      </p:ext>
    </p:extLst>
  </p:cSld>
</p:sld>
</file>

<file path=ppt/slides/slide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11491ED-F04A-4A05-BB15-90C6200DB93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247"/>
                </a:solidFill>
                <a:latin typeface="Bitstream Charter"/>
                <a:ea typeface="Bitstream Charter"/>
                <a:cs typeface="Bitstream Charter"/>
              </a:defRPr>
            </a:pPr>
            <a:r>
              <a:rPr sz="3300" b="1">
                <a:solidFill>
                  <a:srgbClr val="183247"/>
                </a:solidFill>
                <a:latin typeface="Bitstream Charter"/>
                <a:ea typeface="Bitstream Charter"/>
                <a:cs typeface="Bitstream Charter"/>
              </a:rPr>
              <a:t>Carrier and monthly findings</a:t>
            </a:r>
          </a:p>
        </p:txBody>
      </p:sp>
      <p:sp>
        <p:nvSpPr>
          <p:cNvPr id="2" name="">
            <a:extLst xmlns:a="http://schemas.openxmlformats.org/drawingml/2006/main">
              <a:ext uri="{FF2B5EF4-FFF2-40B4-BE49-F238E27FC236}">
                <a16:creationId xmlns:a16="http://schemas.microsoft.com/office/drawing/2014/main" id="{45F4AAF9-3AC9-4790-93E1-55835CBA9907}"/>
              </a:ext>
            </a:extLst>
          </p:cNvPr>
          <p:cNvSpPr>
            <a:spLocks xmlns:a="http://schemas.openxmlformats.org/drawingml/2006/main" noGrp="1"/>
          </p:cNvSpPr>
          <p:nvPr/>
        </p:nvSpPr>
        <p:spPr>
          <a:xfrm xmlns:a="http://schemas.openxmlformats.org/drawingml/2006/main">
            <a:off x="609600" y="639127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9"/>
                </a:solidFill>
                <a:latin typeface="Bitstream Charter"/>
                <a:ea typeface="Bitstream Charter"/>
                <a:cs typeface="Bitstream Charter"/>
              </a:defRPr>
            </a:pPr>
            <a:r>
              <a:rPr sz="1275" b="0">
                <a:solidFill>
                  <a:srgbClr val="526779"/>
                </a:solidFill>
                <a:latin typeface="Bitstream Charter"/>
                <a:ea typeface="Bitstream Charter"/>
                <a:cs typeface="Bitstream Charter"/>
              </a:rPr>
              <a:t>JM Logistics   /   Fictional practice data, 2025</a:t>
            </a:r>
          </a:p>
        </p:txBody>
      </p:sp>
      <p:sp>
        <p:nvSpPr>
          <p:cNvPr id="3" name="">
            <a:extLst xmlns:a="http://schemas.openxmlformats.org/drawingml/2006/main">
              <a:ext uri="{FF2B5EF4-FFF2-40B4-BE49-F238E27FC236}">
                <a16:creationId xmlns:a16="http://schemas.microsoft.com/office/drawing/2014/main" id="{1649A3DC-9089-420D-82FC-85B261444C12}"/>
              </a:ext>
            </a:extLst>
          </p:cNvPr>
          <p:cNvSpPr>
            <a:spLocks xmlns:a="http://schemas.openxmlformats.org/drawingml/2006/main" noGrp="1"/>
          </p:cNvSpPr>
          <p:nvPr/>
        </p:nvSpPr>
        <p:spPr>
          <a:xfrm xmlns:a="http://schemas.openxmlformats.org/drawingml/2006/main">
            <a:off x="11096625" y="63531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792AC"/>
                </a:solidFill>
                <a:latin typeface="Bitstream Charter"/>
                <a:ea typeface="Bitstream Charter"/>
                <a:cs typeface="Bitstream Charter"/>
              </a:defRPr>
            </a:pPr>
            <a:r>
              <a:rPr sz="1500" b="1">
                <a:solidFill>
                  <a:srgbClr val="2792AC"/>
                </a:solidFill>
                <a:latin typeface="Bitstream Charter"/>
                <a:ea typeface="Bitstream Charter"/>
                <a:cs typeface="Bitstream Charter"/>
              </a:rPr>
              <a:t>04</a:t>
            </a:r>
          </a:p>
        </p:txBody>
      </p:sp>
      <p:sp>
        <p:nvSpPr>
          <p:cNvPr id="4" name="">
            <a:extLst xmlns:a="http://schemas.openxmlformats.org/drawingml/2006/main">
              <a:ext uri="{FF2B5EF4-FFF2-40B4-BE49-F238E27FC236}">
                <a16:creationId xmlns:a16="http://schemas.microsoft.com/office/drawing/2014/main" id="{95411E9D-2EF0-464B-97FD-420A25D351E9}"/>
              </a:ext>
            </a:extLst>
          </p:cNvPr>
          <p:cNvSpPr>
            <a:spLocks xmlns:a="http://schemas.openxmlformats.org/drawingml/2006/main" noGrp="1"/>
          </p:cNvSpPr>
          <p:nvPr/>
        </p:nvSpPr>
        <p:spPr>
          <a:xfrm xmlns:a="http://schemas.openxmlformats.org/drawingml/2006/main">
            <a:off x="609600" y="150495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247"/>
                </a:solidFill>
                <a:latin typeface="Bitstream Charter"/>
                <a:ea typeface="Bitstream Charter"/>
                <a:cs typeface="Bitstream Charter"/>
              </a:defRPr>
            </a:pPr>
            <a:r>
              <a:rPr sz="1950" b="1">
                <a:solidFill>
                  <a:srgbClr val="183247"/>
                </a:solidFill>
                <a:latin typeface="Bitstream Charter"/>
                <a:ea typeface="Bitstream Charter"/>
                <a:cs typeface="Bitstream Charter"/>
              </a:rPr>
              <a:t>On-time delivery rate (%)</a:t>
            </a:r>
          </a:p>
        </p:txBody>
      </p:sp>
      <p:graphicFrame>
        <p:nvGraphicFramePr>
          <p:cNvPr id="16" name="Chart"/>
          <p:cNvGraphicFramePr/>
          <p:nvPr/>
        </p:nvGraphicFramePr>
        <p:xfrm>
          <a:off xmlns:a="http://schemas.openxmlformats.org/drawingml/2006/main" x="609600" y="2076450"/>
          <a:ext xmlns:a="http://schemas.openxmlformats.org/drawingml/2006/main" cx="6762750" cy="3286125"/>
        </p:xfrm>
        <a:graphic xmlns:a="http://schemas.openxmlformats.org/drawingml/2006/main">
          <a:graphicData uri="http://schemas.openxmlformats.org/drawingml/2006/chart">
            <c:chart xmlns:r="http://schemas.openxmlformats.org/officeDocument/2006/relationships" xmlns:c="http://schemas.openxmlformats.org/drawingml/2006/chart" r:id="R1f2875f7b6714eb2"/>
          </a:graphicData>
        </a:graphic>
      </p:graphicFrame>
      <p:sp>
        <p:nvSpPr>
          <p:cNvPr id="6" name="">
            <a:extLst xmlns:a="http://schemas.openxmlformats.org/drawingml/2006/main">
              <a:ext uri="{FF2B5EF4-FFF2-40B4-BE49-F238E27FC236}">
                <a16:creationId xmlns:a16="http://schemas.microsoft.com/office/drawing/2014/main" id="{D1625FF2-C226-4D12-B635-EFE0B40D256C}"/>
              </a:ext>
            </a:extLst>
          </p:cNvPr>
          <p:cNvSpPr>
            <a:spLocks xmlns:a="http://schemas.openxmlformats.org/drawingml/2006/main" noGrp="1"/>
          </p:cNvSpPr>
          <p:nvPr/>
        </p:nvSpPr>
        <p:spPr>
          <a:xfrm xmlns:a="http://schemas.openxmlformats.org/drawingml/2006/main">
            <a:off x="7858125" y="180975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792AC"/>
                </a:solidFill>
                <a:latin typeface="Bitstream Charter"/>
                <a:ea typeface="Bitstream Charter"/>
                <a:cs typeface="Bitstream Charter"/>
              </a:defRPr>
            </a:pPr>
            <a:r>
              <a:rPr sz="2400" b="1">
                <a:solidFill>
                  <a:srgbClr val="2792AC"/>
                </a:solidFill>
                <a:latin typeface="Bitstream Charter"/>
                <a:ea typeface="Bitstream Charter"/>
                <a:cs typeface="Bitstream Charter"/>
              </a:rPr>
              <a:t>December</a:t>
            </a:r>
          </a:p>
        </p:txBody>
      </p:sp>
      <p:sp>
        <p:nvSpPr>
          <p:cNvPr id="7" name="">
            <a:extLst xmlns:a="http://schemas.openxmlformats.org/drawingml/2006/main">
              <a:ext uri="{FF2B5EF4-FFF2-40B4-BE49-F238E27FC236}">
                <a16:creationId xmlns:a16="http://schemas.microsoft.com/office/drawing/2014/main" id="{905AB0FF-A7CD-49DF-9115-84D972470006}"/>
              </a:ext>
            </a:extLst>
          </p:cNvPr>
          <p:cNvSpPr>
            <a:spLocks xmlns:a="http://schemas.openxmlformats.org/drawingml/2006/main" noGrp="1"/>
          </p:cNvSpPr>
          <p:nvPr/>
        </p:nvSpPr>
        <p:spPr>
          <a:xfrm xmlns:a="http://schemas.openxmlformats.org/drawingml/2006/main">
            <a:off x="7858125" y="2324100"/>
            <a:ext cx="3619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3247"/>
                </a:solidFill>
                <a:latin typeface="Bitstream Charter"/>
                <a:ea typeface="Bitstream Charter"/>
                <a:cs typeface="Bitstream Charter"/>
              </a:defRPr>
            </a:pPr>
            <a:r>
              <a:rPr sz="3000" b="1">
                <a:solidFill>
                  <a:srgbClr val="183247"/>
                </a:solidFill>
                <a:latin typeface="Bitstream Charter"/>
                <a:ea typeface="Bitstream Charter"/>
                <a:cs typeface="Bitstream Charter"/>
              </a:rPr>
              <a:t>$146,533.19</a:t>
            </a:r>
          </a:p>
        </p:txBody>
      </p:sp>
      <p:sp>
        <p:nvSpPr>
          <p:cNvPr id="8" name="">
            <a:extLst xmlns:a="http://schemas.openxmlformats.org/drawingml/2006/main">
              <a:ext uri="{FF2B5EF4-FFF2-40B4-BE49-F238E27FC236}">
                <a16:creationId xmlns:a16="http://schemas.microsoft.com/office/drawing/2014/main" id="{64D5C11C-C0CA-4F8C-8A06-FE6C139D1839}"/>
              </a:ext>
            </a:extLst>
          </p:cNvPr>
          <p:cNvSpPr>
            <a:spLocks xmlns:a="http://schemas.openxmlformats.org/drawingml/2006/main" noGrp="1"/>
          </p:cNvSpPr>
          <p:nvPr/>
        </p:nvSpPr>
        <p:spPr>
          <a:xfrm xmlns:a="http://schemas.openxmlformats.org/drawingml/2006/main">
            <a:off x="7858125" y="301942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247"/>
                </a:solidFill>
                <a:latin typeface="Bitstream Charter"/>
                <a:ea typeface="Bitstream Charter"/>
                <a:cs typeface="Bitstream Charter"/>
              </a:defRPr>
            </a:pPr>
            <a:r>
              <a:rPr sz="1950" b="0">
                <a:solidFill>
                  <a:srgbClr val="183247"/>
                </a:solidFill>
                <a:latin typeface="Bitstream Charter"/>
                <a:ea typeface="Bitstream Charter"/>
                <a:cs typeface="Bitstream Charter"/>
              </a:rPr>
              <a:t>Highest monthly freight cost</a:t>
            </a:r>
          </a:p>
        </p:txBody>
      </p:sp>
      <p:sp>
        <p:nvSpPr>
          <p:cNvPr id="9" name="">
            <a:extLst xmlns:a="http://schemas.openxmlformats.org/drawingml/2006/main">
              <a:ext uri="{FF2B5EF4-FFF2-40B4-BE49-F238E27FC236}">
                <a16:creationId xmlns:a16="http://schemas.microsoft.com/office/drawing/2014/main" id="{823A4616-864E-47AB-9801-37EA60A97117}"/>
              </a:ext>
            </a:extLst>
          </p:cNvPr>
          <p:cNvSpPr>
            <a:spLocks xmlns:a="http://schemas.openxmlformats.org/drawingml/2006/main" noGrp="1"/>
          </p:cNvSpPr>
          <p:nvPr/>
        </p:nvSpPr>
        <p:spPr>
          <a:xfrm xmlns:a="http://schemas.openxmlformats.org/drawingml/2006/main">
            <a:off x="7858125" y="3914775"/>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792AC"/>
                </a:solidFill>
                <a:latin typeface="Bitstream Charter"/>
                <a:ea typeface="Bitstream Charter"/>
                <a:cs typeface="Bitstream Charter"/>
              </a:defRPr>
            </a:pPr>
            <a:r>
              <a:rPr sz="2400" b="1">
                <a:solidFill>
                  <a:srgbClr val="2792AC"/>
                </a:solidFill>
                <a:latin typeface="Bitstream Charter"/>
                <a:ea typeface="Bitstream Charter"/>
                <a:cs typeface="Bitstream Charter"/>
              </a:rPr>
              <a:t>Carrier D</a:t>
            </a:r>
          </a:p>
        </p:txBody>
      </p:sp>
      <p:sp>
        <p:nvSpPr>
          <p:cNvPr id="10" name="">
            <a:extLst xmlns:a="http://schemas.openxmlformats.org/drawingml/2006/main">
              <a:ext uri="{FF2B5EF4-FFF2-40B4-BE49-F238E27FC236}">
                <a16:creationId xmlns:a16="http://schemas.microsoft.com/office/drawing/2014/main" id="{7C5D1F64-1CC4-4570-B2BE-69F475571643}"/>
              </a:ext>
            </a:extLst>
          </p:cNvPr>
          <p:cNvSpPr>
            <a:spLocks xmlns:a="http://schemas.openxmlformats.org/drawingml/2006/main" noGrp="1"/>
          </p:cNvSpPr>
          <p:nvPr/>
        </p:nvSpPr>
        <p:spPr>
          <a:xfrm xmlns:a="http://schemas.openxmlformats.org/drawingml/2006/main">
            <a:off x="7858125" y="4419600"/>
            <a:ext cx="3476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247"/>
                </a:solidFill>
                <a:latin typeface="Bitstream Charter"/>
                <a:ea typeface="Bitstream Charter"/>
                <a:cs typeface="Bitstream Charter"/>
              </a:defRPr>
            </a:pPr>
            <a:r>
              <a:rPr sz="1950" b="0">
                <a:solidFill>
                  <a:srgbClr val="183247"/>
                </a:solidFill>
                <a:latin typeface="Bitstream Charter"/>
                <a:ea typeface="Bitstream Charter"/>
                <a:cs typeface="Bitstream Charter"/>
              </a:rPr>
              <a:t>$1,613.87 average cost</a:t>
            </a:r>
          </a:p>
          <a:p xmlns:a="http://schemas.openxmlformats.org/drawingml/2006/main">
            <a:pPr>
              <a:defRPr sz="1950" b="0">
                <a:solidFill>
                  <a:srgbClr val="183247"/>
                </a:solidFill>
                <a:latin typeface="Bitstream Charter"/>
                <a:ea typeface="Bitstream Charter"/>
                <a:cs typeface="Bitstream Charter"/>
              </a:defRPr>
            </a:pPr>
            <a:r>
              <a:rPr sz="1950" b="0">
                <a:solidFill>
                  <a:srgbClr val="183247"/>
                </a:solidFill>
                <a:latin typeface="Bitstream Charter"/>
                <a:ea typeface="Bitstream Charter"/>
                <a:cs typeface="Bitstream Charter"/>
              </a:rPr>
              <a:t>87.65% on-time delivery</a:t>
            </a:r>
          </a:p>
        </p:txBody>
      </p:sp>
      <p:sp>
        <p:nvSpPr>
          <p:cNvPr id="11" name="">
            <a:extLst xmlns:a="http://schemas.openxmlformats.org/drawingml/2006/main">
              <a:ext uri="{FF2B5EF4-FFF2-40B4-BE49-F238E27FC236}">
                <a16:creationId xmlns:a16="http://schemas.microsoft.com/office/drawing/2014/main" id="{C0FCECD7-774D-4F5F-A1DC-A9CC7E82E196}"/>
              </a:ext>
            </a:extLst>
          </p:cNvPr>
          <p:cNvSpPr>
            <a:spLocks xmlns:a="http://schemas.openxmlformats.org/drawingml/2006/main" noGrp="1"/>
          </p:cNvSpPr>
          <p:nvPr/>
        </p:nvSpPr>
        <p:spPr>
          <a:xfrm xmlns:a="http://schemas.openxmlformats.org/drawingml/2006/main">
            <a:off x="609600" y="56388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779"/>
                </a:solidFill>
                <a:latin typeface="Bitstream Charter"/>
                <a:ea typeface="Bitstream Charter"/>
                <a:cs typeface="Bitstream Charter"/>
              </a:defRPr>
            </a:pPr>
            <a:r>
              <a:rPr sz="1800" b="0">
                <a:solidFill>
                  <a:srgbClr val="526779"/>
                </a:solidFill>
                <a:latin typeface="Bitstream Charter"/>
                <a:ea typeface="Bitstream Charter"/>
                <a:cs typeface="Bitstream Charter"/>
              </a:rPr>
              <a:t>Cost comparisons need context: distance and transport mode affect charges.</a:t>
            </a:r>
          </a:p>
        </p:txBody>
      </p:sp>
    </p:spTree>
    <p:extLst>
      <p:ext uri="{BB962C8B-B14F-4D97-AF65-F5344CB8AC3E}">
        <p14:creationId xmlns:p14="http://schemas.microsoft.com/office/powerpoint/2010/main" val="1931944566"/>
      </p:ext>
    </p:extLst>
  </p:cSld>
</p:sld>
</file>

<file path=ppt/slides/slide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F2FF331-B8AB-4ECA-B27A-675091346A70}"/>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247"/>
                </a:solidFill>
                <a:latin typeface="Bitstream Charter"/>
                <a:ea typeface="Bitstream Charter"/>
                <a:cs typeface="Bitstream Charter"/>
              </a:defRPr>
            </a:pPr>
            <a:r>
              <a:rPr sz="3300" b="1">
                <a:solidFill>
                  <a:srgbClr val="183247"/>
                </a:solidFill>
                <a:latin typeface="Bitstream Charter"/>
                <a:ea typeface="Bitstream Charter"/>
                <a:cs typeface="Bitstream Charter"/>
              </a:rPr>
              <a:t>Resolving a filter-driven mismatch</a:t>
            </a:r>
          </a:p>
        </p:txBody>
      </p:sp>
      <p:sp>
        <p:nvSpPr>
          <p:cNvPr id="2" name="">
            <a:extLst xmlns:a="http://schemas.openxmlformats.org/drawingml/2006/main">
              <a:ext uri="{FF2B5EF4-FFF2-40B4-BE49-F238E27FC236}">
                <a16:creationId xmlns:a16="http://schemas.microsoft.com/office/drawing/2014/main" id="{983AD5F3-C366-4B71-8981-4E61771E1786}"/>
              </a:ext>
            </a:extLst>
          </p:cNvPr>
          <p:cNvSpPr>
            <a:spLocks xmlns:a="http://schemas.openxmlformats.org/drawingml/2006/main" noGrp="1"/>
          </p:cNvSpPr>
          <p:nvPr/>
        </p:nvSpPr>
        <p:spPr>
          <a:xfrm xmlns:a="http://schemas.openxmlformats.org/drawingml/2006/main">
            <a:off x="609600" y="639127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9"/>
                </a:solidFill>
                <a:latin typeface="Bitstream Charter"/>
                <a:ea typeface="Bitstream Charter"/>
                <a:cs typeface="Bitstream Charter"/>
              </a:defRPr>
            </a:pPr>
            <a:r>
              <a:rPr sz="1275" b="0">
                <a:solidFill>
                  <a:srgbClr val="526779"/>
                </a:solidFill>
                <a:latin typeface="Bitstream Charter"/>
                <a:ea typeface="Bitstream Charter"/>
                <a:cs typeface="Bitstream Charter"/>
              </a:rPr>
              <a:t>JM Logistics   /   Fictional practice data, 2025</a:t>
            </a:r>
          </a:p>
        </p:txBody>
      </p:sp>
      <p:sp>
        <p:nvSpPr>
          <p:cNvPr id="3" name="">
            <a:extLst xmlns:a="http://schemas.openxmlformats.org/drawingml/2006/main">
              <a:ext uri="{FF2B5EF4-FFF2-40B4-BE49-F238E27FC236}">
                <a16:creationId xmlns:a16="http://schemas.microsoft.com/office/drawing/2014/main" id="{748641A5-CBE3-4886-A244-149856727676}"/>
              </a:ext>
            </a:extLst>
          </p:cNvPr>
          <p:cNvSpPr>
            <a:spLocks xmlns:a="http://schemas.openxmlformats.org/drawingml/2006/main" noGrp="1"/>
          </p:cNvSpPr>
          <p:nvPr/>
        </p:nvSpPr>
        <p:spPr>
          <a:xfrm xmlns:a="http://schemas.openxmlformats.org/drawingml/2006/main">
            <a:off x="11096625" y="63531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792AC"/>
                </a:solidFill>
                <a:latin typeface="Bitstream Charter"/>
                <a:ea typeface="Bitstream Charter"/>
                <a:cs typeface="Bitstream Charter"/>
              </a:defRPr>
            </a:pPr>
            <a:r>
              <a:rPr sz="1500" b="1">
                <a:solidFill>
                  <a:srgbClr val="2792AC"/>
                </a:solidFill>
                <a:latin typeface="Bitstream Charter"/>
                <a:ea typeface="Bitstream Charter"/>
                <a:cs typeface="Bitstream Charter"/>
              </a:rPr>
              <a:t>05</a:t>
            </a:r>
          </a:p>
        </p:txBody>
      </p:sp>
      <p:sp>
        <p:nvSpPr>
          <p:cNvPr id="4" name="">
            <a:extLst xmlns:a="http://schemas.openxmlformats.org/drawingml/2006/main">
              <a:ext uri="{FF2B5EF4-FFF2-40B4-BE49-F238E27FC236}">
                <a16:creationId xmlns:a16="http://schemas.microsoft.com/office/drawing/2014/main" id="{C4FC3A49-AC2E-48B5-ABD7-67F85F7DA0D8}"/>
              </a:ext>
            </a:extLst>
          </p:cNvPr>
          <p:cNvSpPr>
            <a:spLocks xmlns:a="http://schemas.openxmlformats.org/drawingml/2006/main" noGrp="1"/>
          </p:cNvSpPr>
          <p:nvPr/>
        </p:nvSpPr>
        <p:spPr>
          <a:xfrm xmlns:a="http://schemas.openxmlformats.org/drawingml/2006/main">
            <a:off x="609600" y="17430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526779"/>
                </a:solidFill>
                <a:latin typeface="Bitstream Charter"/>
                <a:ea typeface="Bitstream Charter"/>
                <a:cs typeface="Bitstream Charter"/>
              </a:defRPr>
            </a:pPr>
            <a:r>
              <a:rPr sz="2250" b="1">
                <a:solidFill>
                  <a:srgbClr val="526779"/>
                </a:solidFill>
                <a:latin typeface="Bitstream Charter"/>
                <a:ea typeface="Bitstream Charter"/>
                <a:cs typeface="Bitstream Charter"/>
              </a:rPr>
              <a:t>Initial January view</a:t>
            </a:r>
          </a:p>
        </p:txBody>
      </p:sp>
      <p:sp>
        <p:nvSpPr>
          <p:cNvPr id="5" name="">
            <a:extLst xmlns:a="http://schemas.openxmlformats.org/drawingml/2006/main">
              <a:ext uri="{FF2B5EF4-FFF2-40B4-BE49-F238E27FC236}">
                <a16:creationId xmlns:a16="http://schemas.microsoft.com/office/drawing/2014/main" id="{3AB7F2FA-4495-4D6E-A88D-62E063F60DCE}"/>
              </a:ext>
            </a:extLst>
          </p:cNvPr>
          <p:cNvSpPr>
            <a:spLocks xmlns:a="http://schemas.openxmlformats.org/drawingml/2006/main" noGrp="1"/>
          </p:cNvSpPr>
          <p:nvPr/>
        </p:nvSpPr>
        <p:spPr>
          <a:xfrm xmlns:a="http://schemas.openxmlformats.org/drawingml/2006/main">
            <a:off x="609600" y="2314575"/>
            <a:ext cx="514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83247"/>
                </a:solidFill>
                <a:latin typeface="Bitstream Charter"/>
                <a:ea typeface="Bitstream Charter"/>
                <a:cs typeface="Bitstream Charter"/>
              </a:defRPr>
            </a:pPr>
            <a:r>
              <a:rPr sz="3900" b="1">
                <a:solidFill>
                  <a:srgbClr val="183247"/>
                </a:solidFill>
                <a:latin typeface="Bitstream Charter"/>
                <a:ea typeface="Bitstream Charter"/>
                <a:cs typeface="Bitstream Charter"/>
              </a:rPr>
              <a:t>9 shipments</a:t>
            </a:r>
          </a:p>
        </p:txBody>
      </p:sp>
      <p:sp>
        <p:nvSpPr>
          <p:cNvPr id="6" name="">
            <a:extLst xmlns:a="http://schemas.openxmlformats.org/drawingml/2006/main">
              <a:ext uri="{FF2B5EF4-FFF2-40B4-BE49-F238E27FC236}">
                <a16:creationId xmlns:a16="http://schemas.microsoft.com/office/drawing/2014/main" id="{BE69925A-83BB-4A46-BBD5-92FF87783921}"/>
              </a:ext>
            </a:extLst>
          </p:cNvPr>
          <p:cNvSpPr>
            <a:spLocks xmlns:a="http://schemas.openxmlformats.org/drawingml/2006/main" noGrp="1"/>
          </p:cNvSpPr>
          <p:nvPr/>
        </p:nvSpPr>
        <p:spPr>
          <a:xfrm xmlns:a="http://schemas.openxmlformats.org/drawingml/2006/main">
            <a:off x="609600" y="3114675"/>
            <a:ext cx="523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247"/>
                </a:solidFill>
                <a:latin typeface="Bitstream Charter"/>
                <a:ea typeface="Bitstream Charter"/>
                <a:cs typeface="Bitstream Charter"/>
              </a:defRPr>
            </a:pPr>
            <a:r>
              <a:rPr sz="2100" b="0">
                <a:solidFill>
                  <a:srgbClr val="183247"/>
                </a:solidFill>
                <a:latin typeface="Bitstream Charter"/>
                <a:ea typeface="Bitstream Charter"/>
                <a:cs typeface="Bitstream Charter"/>
              </a:rPr>
              <a:t>$11.58K displayed freight cost</a:t>
            </a:r>
          </a:p>
        </p:txBody>
      </p:sp>
      <p:sp>
        <p:nvSpPr>
          <p:cNvPr id="7" name="">
            <a:extLst xmlns:a="http://schemas.openxmlformats.org/drawingml/2006/main">
              <a:ext uri="{FF2B5EF4-FFF2-40B4-BE49-F238E27FC236}">
                <a16:creationId xmlns:a16="http://schemas.microsoft.com/office/drawing/2014/main" id="{049E81BB-7995-4B50-A23D-183685A198F1}"/>
              </a:ext>
            </a:extLst>
          </p:cNvPr>
          <p:cNvSpPr>
            <a:spLocks xmlns:a="http://schemas.openxmlformats.org/drawingml/2006/main" noGrp="1"/>
          </p:cNvSpPr>
          <p:nvPr/>
        </p:nvSpPr>
        <p:spPr>
          <a:xfrm xmlns:a="http://schemas.openxmlformats.org/drawingml/2006/main">
            <a:off x="6324600" y="17430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792AC"/>
                </a:solidFill>
                <a:latin typeface="Bitstream Charter"/>
                <a:ea typeface="Bitstream Charter"/>
                <a:cs typeface="Bitstream Charter"/>
              </a:defRPr>
            </a:pPr>
            <a:r>
              <a:rPr sz="2250" b="1">
                <a:solidFill>
                  <a:srgbClr val="2792AC"/>
                </a:solidFill>
                <a:latin typeface="Bitstream Charter"/>
                <a:ea typeface="Bitstream Charter"/>
                <a:cs typeface="Bitstream Charter"/>
              </a:rPr>
              <a:t>After clearing the active filter</a:t>
            </a:r>
          </a:p>
        </p:txBody>
      </p:sp>
      <p:sp>
        <p:nvSpPr>
          <p:cNvPr id="8" name="">
            <a:extLst xmlns:a="http://schemas.openxmlformats.org/drawingml/2006/main">
              <a:ext uri="{FF2B5EF4-FFF2-40B4-BE49-F238E27FC236}">
                <a16:creationId xmlns:a16="http://schemas.microsoft.com/office/drawing/2014/main" id="{2FA62048-FF09-4A1F-9E33-00788AC99CD1}"/>
              </a:ext>
            </a:extLst>
          </p:cNvPr>
          <p:cNvSpPr>
            <a:spLocks xmlns:a="http://schemas.openxmlformats.org/drawingml/2006/main" noGrp="1"/>
          </p:cNvSpPr>
          <p:nvPr/>
        </p:nvSpPr>
        <p:spPr>
          <a:xfrm xmlns:a="http://schemas.openxmlformats.org/drawingml/2006/main">
            <a:off x="6324600" y="2314575"/>
            <a:ext cx="514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83247"/>
                </a:solidFill>
                <a:latin typeface="Bitstream Charter"/>
                <a:ea typeface="Bitstream Charter"/>
                <a:cs typeface="Bitstream Charter"/>
              </a:defRPr>
            </a:pPr>
            <a:r>
              <a:rPr sz="3900" b="1">
                <a:solidFill>
                  <a:srgbClr val="183247"/>
                </a:solidFill>
                <a:latin typeface="Bitstream Charter"/>
                <a:ea typeface="Bitstream Charter"/>
                <a:cs typeface="Bitstream Charter"/>
              </a:rPr>
              <a:t>65 shipments</a:t>
            </a:r>
          </a:p>
        </p:txBody>
      </p:sp>
      <p:sp>
        <p:nvSpPr>
          <p:cNvPr id="9" name="">
            <a:extLst xmlns:a="http://schemas.openxmlformats.org/drawingml/2006/main">
              <a:ext uri="{FF2B5EF4-FFF2-40B4-BE49-F238E27FC236}">
                <a16:creationId xmlns:a16="http://schemas.microsoft.com/office/drawing/2014/main" id="{68B8645C-A427-4860-A225-27ECC96DBC85}"/>
              </a:ext>
            </a:extLst>
          </p:cNvPr>
          <p:cNvSpPr>
            <a:spLocks xmlns:a="http://schemas.openxmlformats.org/drawingml/2006/main" noGrp="1"/>
          </p:cNvSpPr>
          <p:nvPr/>
        </p:nvSpPr>
        <p:spPr>
          <a:xfrm xmlns:a="http://schemas.openxmlformats.org/drawingml/2006/main">
            <a:off x="6324600" y="3114675"/>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247"/>
                </a:solidFill>
                <a:latin typeface="Bitstream Charter"/>
                <a:ea typeface="Bitstream Charter"/>
                <a:cs typeface="Bitstream Charter"/>
              </a:defRPr>
            </a:pPr>
            <a:r>
              <a:rPr sz="2100" b="0">
                <a:solidFill>
                  <a:srgbClr val="183247"/>
                </a:solidFill>
                <a:latin typeface="Bitstream Charter"/>
                <a:ea typeface="Bitstream Charter"/>
                <a:cs typeface="Bitstream Charter"/>
              </a:rPr>
              <a:t>$94,771.18 freight cost</a:t>
            </a:r>
          </a:p>
        </p:txBody>
      </p:sp>
      <p:sp>
        <p:nvSpPr>
          <p:cNvPr id="10" name="">
            <a:extLst xmlns:a="http://schemas.openxmlformats.org/drawingml/2006/main">
              <a:ext uri="{FF2B5EF4-FFF2-40B4-BE49-F238E27FC236}">
                <a16:creationId xmlns:a16="http://schemas.microsoft.com/office/drawing/2014/main" id="{B0F33B9E-CB6C-4266-A8B8-8F5DF4F079D3}"/>
              </a:ext>
            </a:extLst>
          </p:cNvPr>
          <p:cNvSpPr>
            <a:spLocks xmlns:a="http://schemas.openxmlformats.org/drawingml/2006/main" noGrp="1"/>
          </p:cNvSpPr>
          <p:nvPr/>
        </p:nvSpPr>
        <p:spPr>
          <a:xfrm xmlns:a="http://schemas.openxmlformats.org/drawingml/2006/main">
            <a:off x="609600" y="4429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247"/>
                </a:solidFill>
                <a:latin typeface="Bitstream Charter"/>
                <a:ea typeface="Bitstream Charter"/>
                <a:cs typeface="Bitstream Charter"/>
              </a:defRPr>
            </a:pPr>
            <a:r>
              <a:rPr sz="2250" b="1">
                <a:solidFill>
                  <a:srgbClr val="183247"/>
                </a:solidFill>
                <a:latin typeface="Bitstream Charter"/>
                <a:ea typeface="Bitstream Charter"/>
                <a:cs typeface="Bitstream Charter"/>
              </a:rPr>
              <a:t>Investigation</a:t>
            </a:r>
          </a:p>
        </p:txBody>
      </p:sp>
      <p:sp>
        <p:nvSpPr>
          <p:cNvPr id="11" name="">
            <a:extLst xmlns:a="http://schemas.openxmlformats.org/drawingml/2006/main">
              <a:ext uri="{FF2B5EF4-FFF2-40B4-BE49-F238E27FC236}">
                <a16:creationId xmlns:a16="http://schemas.microsoft.com/office/drawing/2014/main" id="{ECB37F6D-C32F-41C5-BAD0-B3D169CA70B4}"/>
              </a:ext>
            </a:extLst>
          </p:cNvPr>
          <p:cNvSpPr>
            <a:spLocks xmlns:a="http://schemas.openxmlformats.org/drawingml/2006/main" noGrp="1"/>
          </p:cNvSpPr>
          <p:nvPr/>
        </p:nvSpPr>
        <p:spPr>
          <a:xfrm xmlns:a="http://schemas.openxmlformats.org/drawingml/2006/main">
            <a:off x="609600" y="4972050"/>
            <a:ext cx="1076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247"/>
                </a:solidFill>
                <a:latin typeface="Bitstream Charter"/>
                <a:ea typeface="Bitstream Charter"/>
                <a:cs typeface="Bitstream Charter"/>
              </a:defRPr>
            </a:pPr>
            <a:r>
              <a:rPr sz="2100" b="0">
                <a:solidFill>
                  <a:srgbClr val="183247"/>
                </a:solidFill>
                <a:latin typeface="Bitstream Charter"/>
                <a:ea typeface="Bitstream Charter"/>
                <a:cs typeface="Bitstream Charter"/>
              </a:rPr>
              <a:t>Checked the date range and remaining selections. Cleared the filter, then rechecked the figures against SQL.</a:t>
            </a:r>
          </a:p>
        </p:txBody>
      </p:sp>
    </p:spTree>
    <p:extLst>
      <p:ext uri="{BB962C8B-B14F-4D97-AF65-F5344CB8AC3E}">
        <p14:creationId xmlns:p14="http://schemas.microsoft.com/office/powerpoint/2010/main" val="13662606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2026-09-18T16:00:20.7940000Z</dcterms:created>
  <dcterms:modified xsi:type="dcterms:W3CDTF">2026-09-18T16:00:20.7940000Z</dcterms:modified>
</coreProperties>
</file>